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63" r:id="rId4"/>
    <p:sldId id="265" r:id="rId5"/>
    <p:sldId id="266" r:id="rId6"/>
    <p:sldId id="267" r:id="rId7"/>
    <p:sldId id="271" r:id="rId8"/>
    <p:sldId id="268" r:id="rId9"/>
    <p:sldId id="272" r:id="rId10"/>
    <p:sldId id="269" r:id="rId11"/>
    <p:sldId id="270" r:id="rId12"/>
    <p:sldId id="261" r:id="rId13"/>
    <p:sldId id="26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68297" autoAdjust="0"/>
  </p:normalViewPr>
  <p:slideViewPr>
    <p:cSldViewPr snapToGrid="0">
      <p:cViewPr varScale="1">
        <p:scale>
          <a:sx n="108" d="100"/>
          <a:sy n="108" d="100"/>
        </p:scale>
        <p:origin x="226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5F36DF-8380-4B0F-8D54-0FCC987B3C4D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22E9B-5DD8-4C99-9DD5-7C1DC1A9490C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99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Goede </a:t>
            </a:r>
            <a:r>
              <a:rPr lang="en-US" dirty="0" err="1"/>
              <a:t>middag</a:t>
            </a:r>
            <a:r>
              <a:rPr lang="en-US" dirty="0"/>
              <a:t>, </a:t>
            </a:r>
            <a:r>
              <a:rPr lang="en-US" dirty="0" err="1"/>
              <a:t>mijn</a:t>
            </a:r>
            <a:r>
              <a:rPr lang="en-US" dirty="0"/>
              <a:t> naam is Caradoc Roetynck. Binnen ILVO is 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groot</a:t>
            </a:r>
            <a:r>
              <a:rPr lang="en-US" dirty="0"/>
              <a:t> project </a:t>
            </a:r>
            <a:r>
              <a:rPr lang="en-US" dirty="0" err="1"/>
              <a:t>genoemd</a:t>
            </a:r>
            <a:r>
              <a:rPr lang="en-US" dirty="0"/>
              <a:t> EMAV. Het </a:t>
            </a:r>
            <a:r>
              <a:rPr lang="en-US" dirty="0" err="1"/>
              <a:t>Emissie</a:t>
            </a:r>
            <a:r>
              <a:rPr lang="en-US" dirty="0"/>
              <a:t> Model </a:t>
            </a:r>
            <a:r>
              <a:rPr lang="en-US" dirty="0" err="1"/>
              <a:t>Ammoniak</a:t>
            </a:r>
            <a:r>
              <a:rPr lang="en-US" dirty="0"/>
              <a:t> Vlaanderen. </a:t>
            </a:r>
            <a:r>
              <a:rPr lang="en-US" dirty="0" err="1"/>
              <a:t>Hierin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input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reken</a:t>
            </a:r>
            <a:r>
              <a:rPr lang="en-US" dirty="0"/>
              <a:t> parameters </a:t>
            </a:r>
            <a:r>
              <a:rPr lang="en-US" dirty="0" err="1"/>
              <a:t>emissies</a:t>
            </a:r>
            <a:r>
              <a:rPr lang="en-US" dirty="0"/>
              <a:t> van </a:t>
            </a:r>
            <a:r>
              <a:rPr lang="en-US" dirty="0" err="1"/>
              <a:t>landbouw</a:t>
            </a:r>
            <a:r>
              <a:rPr lang="en-US" dirty="0"/>
              <a:t> </a:t>
            </a:r>
            <a:r>
              <a:rPr lang="en-US" dirty="0" err="1"/>
              <a:t>berekend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Maar er is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probleem</a:t>
            </a:r>
            <a:r>
              <a:rPr lang="en-US" dirty="0"/>
              <a:t>. De </a:t>
            </a:r>
            <a:r>
              <a:rPr lang="en-US" dirty="0" err="1"/>
              <a:t>onderzoekers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op punt </a:t>
            </a:r>
            <a:r>
              <a:rPr lang="en-US" dirty="0" err="1"/>
              <a:t>stellen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de developers </a:t>
            </a:r>
            <a:r>
              <a:rPr lang="en-US" dirty="0" err="1"/>
              <a:t>spreken</a:t>
            </a:r>
            <a:r>
              <a:rPr lang="en-US" dirty="0"/>
              <a:t> </a:t>
            </a:r>
            <a:r>
              <a:rPr lang="en-US" dirty="0" err="1"/>
              <a:t>fundamenteel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Andere taal. </a:t>
            </a:r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focust</a:t>
            </a:r>
            <a:r>
              <a:rPr lang="en-US" dirty="0"/>
              <a:t> op die kloof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verkleinen</a:t>
            </a:r>
            <a:r>
              <a:rPr lang="en-US" dirty="0"/>
              <a:t>.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3405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 </a:t>
            </a:r>
            <a:r>
              <a:rPr lang="en-US" dirty="0" err="1"/>
              <a:t>huidige</a:t>
            </a:r>
            <a:r>
              <a:rPr lang="en-US" dirty="0"/>
              <a:t> </a:t>
            </a:r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de </a:t>
            </a:r>
            <a:r>
              <a:rPr lang="en-US" dirty="0" err="1"/>
              <a:t>formules</a:t>
            </a:r>
            <a:r>
              <a:rPr lang="en-US" dirty="0"/>
              <a:t> over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spreekwoordelijke</a:t>
            </a:r>
            <a:r>
              <a:rPr lang="en-US" dirty="0"/>
              <a:t> </a:t>
            </a:r>
            <a:r>
              <a:rPr lang="en-US" dirty="0" err="1"/>
              <a:t>muur</a:t>
            </a:r>
            <a:r>
              <a:rPr lang="en-US" dirty="0"/>
              <a:t> </a:t>
            </a:r>
            <a:r>
              <a:rPr lang="en-US" dirty="0" err="1"/>
              <a:t>gegooit</a:t>
            </a:r>
            <a:r>
              <a:rPr lang="en-US" dirty="0"/>
              <a:t>.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leveren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, de developers </a:t>
            </a:r>
            <a:r>
              <a:rPr lang="en-US" dirty="0" err="1"/>
              <a:t>zetten</a:t>
            </a:r>
            <a:r>
              <a:rPr lang="en-US" dirty="0"/>
              <a:t> die om </a:t>
            </a:r>
            <a:r>
              <a:rPr lang="en-US" dirty="0" err="1"/>
              <a:t>naar</a:t>
            </a:r>
            <a:r>
              <a:rPr lang="en-US" dirty="0"/>
              <a:t> C# code.</a:t>
            </a:r>
          </a:p>
          <a:p>
            <a:r>
              <a:rPr lang="en-US" dirty="0"/>
              <a:t>Wilt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onderzoeker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Kleine </a:t>
            </a:r>
            <a:r>
              <a:rPr lang="en-US" dirty="0" err="1"/>
              <a:t>verandering</a:t>
            </a:r>
            <a:r>
              <a:rPr lang="en-US" dirty="0"/>
              <a:t> </a:t>
            </a:r>
            <a:r>
              <a:rPr lang="en-US" dirty="0" err="1"/>
              <a:t>aanpassen</a:t>
            </a:r>
            <a:r>
              <a:rPr lang="en-US" dirty="0"/>
              <a:t>, </a:t>
            </a:r>
            <a:r>
              <a:rPr lang="en-US" dirty="0" err="1"/>
              <a:t>moeten</a:t>
            </a:r>
            <a:r>
              <a:rPr lang="en-US" dirty="0"/>
              <a:t> ze </a:t>
            </a:r>
            <a:r>
              <a:rPr lang="en-US" dirty="0" err="1"/>
              <a:t>toch</a:t>
            </a:r>
            <a:r>
              <a:rPr lang="en-US" dirty="0"/>
              <a:t> </a:t>
            </a:r>
            <a:r>
              <a:rPr lang="en-US" dirty="0" err="1"/>
              <a:t>enige</a:t>
            </a:r>
            <a:r>
              <a:rPr lang="en-US" dirty="0"/>
              <a:t> </a:t>
            </a:r>
            <a:r>
              <a:rPr lang="en-US" dirty="0" err="1"/>
              <a:t>tijd</a:t>
            </a:r>
            <a:r>
              <a:rPr lang="en-US" dirty="0"/>
              <a:t> </a:t>
            </a:r>
            <a:r>
              <a:rPr lang="en-US" dirty="0" err="1"/>
              <a:t>wachten</a:t>
            </a:r>
            <a:r>
              <a:rPr lang="en-US" dirty="0"/>
              <a:t> op </a:t>
            </a:r>
            <a:r>
              <a:rPr lang="en-US" dirty="0" err="1"/>
              <a:t>een</a:t>
            </a:r>
            <a:r>
              <a:rPr lang="en-US" dirty="0"/>
              <a:t> IT-ticket.</a:t>
            </a:r>
          </a:p>
          <a:p>
            <a:endParaRPr lang="en-US" dirty="0"/>
          </a:p>
          <a:p>
            <a:r>
              <a:rPr lang="en-US" dirty="0"/>
              <a:t>Dit process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traag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, </a:t>
            </a:r>
            <a:r>
              <a:rPr lang="en-US" dirty="0" err="1"/>
              <a:t>foutgevoelig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zorgen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‘documentation drift’. </a:t>
            </a:r>
            <a:r>
              <a:rPr lang="en-US" dirty="0" err="1"/>
              <a:t>Waarbij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klopt</a:t>
            </a:r>
            <a:r>
              <a:rPr lang="en-US" dirty="0"/>
              <a:t> met wat de code </a:t>
            </a:r>
            <a:r>
              <a:rPr lang="en-US" dirty="0" err="1"/>
              <a:t>doet</a:t>
            </a:r>
            <a:r>
              <a:rPr lang="en-US" dirty="0"/>
              <a:t>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8969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3306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kloof </a:t>
            </a:r>
            <a:r>
              <a:rPr lang="en-US" dirty="0" err="1"/>
              <a:t>tussen</a:t>
            </a:r>
            <a:r>
              <a:rPr lang="en-US" dirty="0"/>
              <a:t> it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wetenschap</a:t>
            </a:r>
            <a:r>
              <a:rPr lang="en-US" dirty="0"/>
              <a:t> is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onoverkomenlijk</a:t>
            </a:r>
            <a:r>
              <a:rPr lang="en-US" dirty="0"/>
              <a:t> problem.</a:t>
            </a:r>
          </a:p>
          <a:p>
            <a:endParaRPr lang="en-US" dirty="0"/>
          </a:p>
          <a:p>
            <a:r>
              <a:rPr lang="en-US" dirty="0"/>
              <a:t>Maar de kloof </a:t>
            </a:r>
            <a:r>
              <a:rPr lang="en-US" dirty="0" err="1"/>
              <a:t>kan</a:t>
            </a:r>
            <a:r>
              <a:rPr lang="en-US" dirty="0"/>
              <a:t> Dichter </a:t>
            </a:r>
            <a:r>
              <a:rPr lang="en-US" dirty="0" err="1"/>
              <a:t>gebracht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</a:t>
            </a:r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tooling</a:t>
            </a:r>
          </a:p>
          <a:p>
            <a:endParaRPr lang="en-US" dirty="0"/>
          </a:p>
          <a:p>
            <a:r>
              <a:rPr lang="en-US" dirty="0"/>
              <a:t>Door </a:t>
            </a:r>
            <a:r>
              <a:rPr lang="en-US" dirty="0" err="1"/>
              <a:t>pythonnet</a:t>
            </a:r>
            <a:r>
              <a:rPr lang="en-US" dirty="0"/>
              <a:t> docker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</a:t>
            </a:r>
            <a:r>
              <a:rPr lang="en-US" dirty="0" err="1"/>
              <a:t>samen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integreren</a:t>
            </a:r>
            <a:r>
              <a:rPr lang="en-US" dirty="0"/>
              <a:t> </a:t>
            </a:r>
            <a:r>
              <a:rPr lang="en-US" dirty="0" err="1"/>
              <a:t>geven</a:t>
            </a:r>
            <a:r>
              <a:rPr lang="en-US" dirty="0"/>
              <a:t> we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de </a:t>
            </a:r>
            <a:r>
              <a:rPr lang="en-US" dirty="0" err="1"/>
              <a:t>mensen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begrijpen</a:t>
            </a:r>
            <a:r>
              <a:rPr lang="en-US" dirty="0"/>
              <a:t> dan de developers.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3541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2464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862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8448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66164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5955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7818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6155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902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9143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97834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1860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72221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07053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07173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363595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299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00FF6-DFC5-4A20-AE84-BB7F33C8E4FA}" type="datetimeFigureOut">
              <a:rPr lang="nl-BE" smtClean="0"/>
              <a:t>2/09/2026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8540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BC49DA-46A6-4728-E480-B1FEF3345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verdediging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2A76C7C-3492-72F0-AE01-DE869E6F13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6"/>
            <a:ext cx="7766936" cy="1096899"/>
          </a:xfrm>
        </p:spPr>
        <p:txBody>
          <a:bodyPr/>
          <a:lstStyle/>
          <a:p>
            <a:r>
              <a:rPr lang="en-US" dirty="0"/>
              <a:t>Caradoc Roetynck</a:t>
            </a:r>
            <a:endParaRPr lang="nl-BE" dirty="0"/>
          </a:p>
        </p:txBody>
      </p:sp>
      <p:pic>
        <p:nvPicPr>
          <p:cNvPr id="1026" name="Picture 2" descr="Logo - ILVO Vlaanderen">
            <a:extLst>
              <a:ext uri="{FF2B5EF4-FFF2-40B4-BE49-F238E27FC236}">
                <a16:creationId xmlns:a16="http://schemas.microsoft.com/office/drawing/2014/main" id="{6CF6EED1-34B8-71C3-3A71-EAA8B82A8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7" y="142164"/>
            <a:ext cx="30099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12EC25D-9900-C0BB-A520-20BDF2F53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5219" y="5017258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427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ijdelijke aanduiding voor inhoud 4" descr="Modern huis met kubusontwerp">
            <a:extLst>
              <a:ext uri="{FF2B5EF4-FFF2-40B4-BE49-F238E27FC236}">
                <a16:creationId xmlns:a16="http://schemas.microsoft.com/office/drawing/2014/main" id="{9BBC4817-5A53-A108-7FD0-B00D9D707D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83" r="13709" b="-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4E38C91-D76E-16DB-BDF6-C50CBA37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Het </a:t>
            </a:r>
            <a:r>
              <a:rPr lang="en-US" dirty="0" err="1"/>
              <a:t>probleem</a:t>
            </a:r>
            <a:r>
              <a:rPr lang="en-US" dirty="0"/>
              <a:t>: The Black Box</a:t>
            </a:r>
            <a:endParaRPr lang="nl-B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4152F8C-92B1-3750-2EFA-3897E6B56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r>
              <a:rPr lang="en-US" dirty="0" err="1"/>
              <a:t>Wetenschappers</a:t>
            </a:r>
            <a:endParaRPr lang="en-US" dirty="0"/>
          </a:p>
          <a:p>
            <a:r>
              <a:rPr lang="en-US" dirty="0" err="1"/>
              <a:t>Ict’ers</a:t>
            </a:r>
            <a:endParaRPr lang="en-US" dirty="0"/>
          </a:p>
          <a:p>
            <a:endParaRPr lang="en-US" dirty="0"/>
          </a:p>
        </p:txBody>
      </p: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7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1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3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18720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9A89D8-9ED3-1C1E-BAFC-CFFE76760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Aanpak onderzoek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55DC278-ED15-F46E-751B-F2EA1C1A1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Gesprekken</a:t>
            </a:r>
            <a:r>
              <a:rPr lang="en-US" dirty="0"/>
              <a:t> met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it team lead</a:t>
            </a:r>
          </a:p>
          <a:p>
            <a:r>
              <a:rPr lang="en-US" dirty="0"/>
              <a:t>Alternative </a:t>
            </a:r>
            <a:r>
              <a:rPr lang="en-US" dirty="0" err="1"/>
              <a:t>vormen</a:t>
            </a:r>
            <a:r>
              <a:rPr lang="en-US" dirty="0"/>
              <a:t> van </a:t>
            </a:r>
            <a:r>
              <a:rPr lang="en-US" dirty="0" err="1"/>
              <a:t>documentatie</a:t>
            </a:r>
            <a:endParaRPr lang="en-US" dirty="0"/>
          </a:p>
          <a:p>
            <a:r>
              <a:rPr lang="en-US" dirty="0"/>
              <a:t>Clean Code </a:t>
            </a:r>
          </a:p>
          <a:p>
            <a:r>
              <a:rPr lang="en-US" dirty="0" err="1"/>
              <a:t>Documentatie</a:t>
            </a:r>
            <a:r>
              <a:rPr lang="en-US" dirty="0"/>
              <a:t> drift</a:t>
            </a:r>
          </a:p>
          <a:p>
            <a:r>
              <a:rPr lang="en-US" dirty="0"/>
              <a:t>Python </a:t>
            </a:r>
            <a:r>
              <a:rPr lang="en-US" dirty="0" err="1"/>
              <a:t>en</a:t>
            </a:r>
            <a:r>
              <a:rPr lang="en-US" dirty="0"/>
              <a:t> C#/.NET =&gt; python.net</a:t>
            </a:r>
          </a:p>
          <a:p>
            <a:endParaRPr lang="en-US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736920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909C7-737F-FF42-C9D3-B257DDDE2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Gesprekken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2705BCA-B29E-99A1-507F-85480A486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Vragen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Kloppen</a:t>
            </a:r>
            <a:r>
              <a:rPr lang="en-US" dirty="0"/>
              <a:t> de </a:t>
            </a:r>
            <a:r>
              <a:rPr lang="en-US" dirty="0" err="1"/>
              <a:t>resultaten</a:t>
            </a:r>
            <a:r>
              <a:rPr lang="en-US" dirty="0"/>
              <a:t> (</a:t>
            </a:r>
            <a:r>
              <a:rPr lang="en-US" dirty="0" err="1"/>
              <a:t>automatisatie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 flow</a:t>
            </a:r>
          </a:p>
          <a:p>
            <a:pPr lvl="1"/>
            <a:r>
              <a:rPr lang="en-US" dirty="0" err="1"/>
              <a:t>Betere</a:t>
            </a:r>
            <a:r>
              <a:rPr lang="en-US" dirty="0"/>
              <a:t> docs</a:t>
            </a:r>
          </a:p>
          <a:p>
            <a:pPr lvl="1"/>
            <a:r>
              <a:rPr lang="en-US" dirty="0" err="1"/>
              <a:t>Unittesten</a:t>
            </a:r>
            <a:r>
              <a:rPr lang="en-US" dirty="0"/>
              <a:t> in python</a:t>
            </a:r>
          </a:p>
          <a:p>
            <a:pPr lvl="1"/>
            <a:r>
              <a:rPr lang="en-US" dirty="0" err="1"/>
              <a:t>Klopt</a:t>
            </a:r>
            <a:r>
              <a:rPr lang="en-US" dirty="0"/>
              <a:t> de </a:t>
            </a:r>
            <a:r>
              <a:rPr lang="en-US" dirty="0" err="1"/>
              <a:t>logica</a:t>
            </a:r>
            <a:endParaRPr lang="en-US" dirty="0"/>
          </a:p>
          <a:p>
            <a:pPr lvl="1"/>
            <a:r>
              <a:rPr lang="en-US" dirty="0" err="1"/>
              <a:t>Onderdelen</a:t>
            </a:r>
            <a:r>
              <a:rPr lang="en-US" dirty="0"/>
              <a:t> van EMAV in python</a:t>
            </a:r>
          </a:p>
          <a:p>
            <a:pPr lvl="1"/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blijven</a:t>
            </a:r>
            <a:r>
              <a:rPr lang="en-US" dirty="0"/>
              <a:t> </a:t>
            </a:r>
            <a:r>
              <a:rPr lang="en-US" dirty="0" err="1"/>
              <a:t>updaten</a:t>
            </a:r>
            <a:endParaRPr lang="en-US" dirty="0"/>
          </a:p>
          <a:p>
            <a:pPr lvl="1"/>
            <a:r>
              <a:rPr lang="en-US" dirty="0" err="1"/>
              <a:t>Stappen</a:t>
            </a:r>
            <a:r>
              <a:rPr lang="en-US" dirty="0"/>
              <a:t> van EMAV</a:t>
            </a:r>
          </a:p>
          <a:p>
            <a:pPr lvl="1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881731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043AC8-F99D-1B1B-FC55-40EAB975A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</a:t>
            </a:r>
            <a:r>
              <a:rPr lang="en-US" dirty="0" err="1"/>
              <a:t>vormen</a:t>
            </a:r>
            <a:r>
              <a:rPr lang="en-US" dirty="0"/>
              <a:t> </a:t>
            </a:r>
            <a:r>
              <a:rPr lang="en-US" dirty="0" err="1"/>
              <a:t>documentatie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9660C7B-2893-19CC-1C07-EFCD440D0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Literate programming</a:t>
            </a:r>
          </a:p>
          <a:p>
            <a:pPr lvl="1"/>
            <a:r>
              <a:rPr lang="en-US" dirty="0"/>
              <a:t>Org mode</a:t>
            </a:r>
          </a:p>
          <a:p>
            <a:r>
              <a:rPr lang="en-US" dirty="0" err="1"/>
              <a:t>Computationele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Jupyter</a:t>
            </a:r>
          </a:p>
          <a:p>
            <a:pPr lvl="1"/>
            <a:r>
              <a:rPr lang="en-US" dirty="0"/>
              <a:t>Quarto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49793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C96712-3D95-9927-61DC-F00DAF9F0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documentatie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133E1C8-DD6D-2866-43FF-D18392E11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Algemeen</a:t>
            </a:r>
            <a:endParaRPr lang="en-US" dirty="0"/>
          </a:p>
          <a:p>
            <a:pPr lvl="1"/>
            <a:r>
              <a:rPr lang="en-US" dirty="0"/>
              <a:t>Goede </a:t>
            </a:r>
            <a:r>
              <a:rPr lang="en-US" dirty="0" err="1"/>
              <a:t>benaming</a:t>
            </a:r>
            <a:endParaRPr lang="en-US" dirty="0"/>
          </a:p>
          <a:p>
            <a:pPr lvl="1"/>
            <a:r>
              <a:rPr lang="en-US" dirty="0"/>
              <a:t>Kleine </a:t>
            </a:r>
            <a:r>
              <a:rPr lang="en-US" dirty="0" err="1"/>
              <a:t>functies</a:t>
            </a:r>
            <a:endParaRPr lang="en-US" dirty="0"/>
          </a:p>
          <a:p>
            <a:pPr lvl="1"/>
            <a:r>
              <a:rPr lang="en-US" dirty="0"/>
              <a:t>Wat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waarom</a:t>
            </a:r>
            <a:endParaRPr lang="en-US" dirty="0"/>
          </a:p>
          <a:p>
            <a:pPr lvl="1"/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dicht</a:t>
            </a:r>
            <a:r>
              <a:rPr lang="en-US" dirty="0"/>
              <a:t> </a:t>
            </a:r>
            <a:r>
              <a:rPr lang="en-US" dirty="0" err="1"/>
              <a:t>bij</a:t>
            </a:r>
            <a:r>
              <a:rPr lang="en-US" dirty="0"/>
              <a:t> de code</a:t>
            </a:r>
          </a:p>
          <a:p>
            <a:pPr lvl="1"/>
            <a:r>
              <a:rPr lang="en-US" dirty="0" err="1"/>
              <a:t>Uniforme</a:t>
            </a:r>
            <a:r>
              <a:rPr lang="en-US" dirty="0"/>
              <a:t> </a:t>
            </a:r>
            <a:r>
              <a:rPr lang="en-US" dirty="0" err="1"/>
              <a:t>stijl</a:t>
            </a:r>
            <a:endParaRPr lang="en-US" dirty="0"/>
          </a:p>
          <a:p>
            <a:pPr lvl="1"/>
            <a:r>
              <a:rPr lang="en-US" dirty="0" err="1"/>
              <a:t>Zelf</a:t>
            </a:r>
            <a:r>
              <a:rPr lang="en-US" dirty="0"/>
              <a:t> </a:t>
            </a:r>
            <a:r>
              <a:rPr lang="en-US" dirty="0" err="1"/>
              <a:t>documenterende</a:t>
            </a:r>
            <a:r>
              <a:rPr lang="en-US" dirty="0"/>
              <a:t> code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1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3232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14378-E0CB-1E29-B297-D25B469E8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BDE29-5C97-E6F2-D710-4F47CAA8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documentatie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90AEF3E-B7BD-C859-7767-3945FAD82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Bij ILVO (EMAV)</a:t>
            </a:r>
          </a:p>
          <a:p>
            <a:pPr lvl="1"/>
            <a:r>
              <a:rPr lang="en-US" dirty="0"/>
              <a:t>Code </a:t>
            </a:r>
            <a:r>
              <a:rPr lang="en-US" dirty="0" err="1"/>
              <a:t>duidelijk</a:t>
            </a:r>
            <a:endParaRPr lang="en-US" dirty="0"/>
          </a:p>
          <a:p>
            <a:pPr lvl="1"/>
            <a:r>
              <a:rPr lang="en-US" dirty="0" err="1"/>
              <a:t>Gemakkelijk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volgen</a:t>
            </a:r>
            <a:r>
              <a:rPr lang="en-US" dirty="0"/>
              <a:t> project </a:t>
            </a:r>
            <a:r>
              <a:rPr lang="en-US" dirty="0" err="1"/>
              <a:t>structuur</a:t>
            </a:r>
            <a:endParaRPr lang="en-US" dirty="0"/>
          </a:p>
          <a:p>
            <a:pPr lvl="1"/>
            <a:r>
              <a:rPr lang="en-US" dirty="0"/>
              <a:t>Project </a:t>
            </a:r>
            <a:r>
              <a:rPr lang="en-US" dirty="0" err="1"/>
              <a:t>structuur</a:t>
            </a:r>
            <a:r>
              <a:rPr lang="en-US" dirty="0"/>
              <a:t> </a:t>
            </a:r>
            <a:r>
              <a:rPr lang="en-US" dirty="0" err="1"/>
              <a:t>duidelijk</a:t>
            </a:r>
            <a:r>
              <a:rPr lang="en-US" dirty="0"/>
              <a:t> </a:t>
            </a:r>
            <a:r>
              <a:rPr lang="en-US" dirty="0" err="1"/>
              <a:t>uitgelegt</a:t>
            </a:r>
            <a:endParaRPr lang="en-US" dirty="0"/>
          </a:p>
          <a:p>
            <a:pPr lvl="1"/>
            <a:r>
              <a:rPr lang="en-US" dirty="0" err="1"/>
              <a:t>Verduidelijking</a:t>
            </a:r>
            <a:r>
              <a:rPr lang="en-US" dirty="0"/>
              <a:t> via comments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Minder de </a:t>
            </a:r>
            <a:r>
              <a:rPr lang="en-US" dirty="0" err="1"/>
              <a:t>waarom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22374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CD0AE8-7535-0C9E-E8D6-181BFD5E6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Documentatie</a:t>
            </a:r>
            <a:r>
              <a:rPr lang="en-US" dirty="0"/>
              <a:t> drift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F7AB695-1D68-2CE3-C787-B14976281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802257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6D9FA-B3CE-35DF-412E-CF5432A9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96917E-8599-38E1-64C7-05EEEDB56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Documentatie</a:t>
            </a:r>
            <a:r>
              <a:rPr lang="en-US" dirty="0"/>
              <a:t> drift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7A48F2-172E-9EF6-9B9E-39AAC5304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ILVO:</a:t>
            </a:r>
          </a:p>
          <a:p>
            <a:pPr lvl="1"/>
            <a:r>
              <a:rPr lang="en-US" dirty="0" err="1"/>
              <a:t>It’ers</a:t>
            </a:r>
            <a:r>
              <a:rPr lang="en-US" dirty="0"/>
              <a:t> </a:t>
            </a:r>
            <a:r>
              <a:rPr lang="en-US" dirty="0" err="1"/>
              <a:t>documenteren</a:t>
            </a:r>
            <a:r>
              <a:rPr lang="en-US" dirty="0"/>
              <a:t> de code</a:t>
            </a:r>
          </a:p>
          <a:p>
            <a:pPr lvl="1"/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documenteren</a:t>
            </a:r>
            <a:r>
              <a:rPr lang="en-US" dirty="0"/>
              <a:t> de </a:t>
            </a:r>
            <a:r>
              <a:rPr lang="en-US" dirty="0" err="1"/>
              <a:t>waarom</a:t>
            </a:r>
            <a:r>
              <a:rPr lang="en-US" dirty="0"/>
              <a:t> van de </a:t>
            </a:r>
            <a:r>
              <a:rPr lang="en-US" dirty="0" err="1"/>
              <a:t>formules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De hoe is </a:t>
            </a:r>
            <a:r>
              <a:rPr lang="en-US" dirty="0" err="1"/>
              <a:t>goed</a:t>
            </a:r>
            <a:endParaRPr lang="en-US" dirty="0"/>
          </a:p>
          <a:p>
            <a:pPr lvl="1"/>
            <a:r>
              <a:rPr lang="en-US" dirty="0"/>
              <a:t>De </a:t>
            </a:r>
            <a:r>
              <a:rPr lang="en-US" dirty="0" err="1"/>
              <a:t>waarom</a:t>
            </a:r>
            <a:r>
              <a:rPr lang="en-US" dirty="0"/>
              <a:t> is zo </a:t>
            </a:r>
            <a:r>
              <a:rPr lang="en-US" dirty="0" err="1"/>
              <a:t>goed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onbestaand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2767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3D0D8-8E41-3031-B07B-BFCB64B2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&amp; C#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81ECBF7-BE3E-8FDA-6CD3-C0C20105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Grote </a:t>
            </a:r>
            <a:r>
              <a:rPr lang="en-US" dirty="0" err="1"/>
              <a:t>testen</a:t>
            </a:r>
            <a:r>
              <a:rPr lang="en-US" dirty="0"/>
              <a:t> </a:t>
            </a:r>
            <a:r>
              <a:rPr lang="en-US" dirty="0" err="1"/>
              <a:t>volledig</a:t>
            </a:r>
            <a:r>
              <a:rPr lang="en-US" dirty="0"/>
              <a:t> via </a:t>
            </a:r>
            <a:r>
              <a:rPr lang="en-US" dirty="0" err="1"/>
              <a:t>dll’s</a:t>
            </a:r>
            <a:r>
              <a:rPr lang="en-US" dirty="0"/>
              <a:t>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geschikt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Onderdelen</a:t>
            </a:r>
            <a:r>
              <a:rPr lang="en-US" dirty="0"/>
              <a:t> </a:t>
            </a:r>
            <a:r>
              <a:rPr lang="en-US" dirty="0" err="1"/>
              <a:t>mogelijk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6309741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66806-04D4-5B3A-E3BD-4A4CD8DF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BBE60-E330-5A4D-45BD-A6520C828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&amp; C#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70203B6-B9EB-D27B-E0F2-03CA25519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nl-BE" dirty="0"/>
              <a:t> 	      </a:t>
            </a:r>
            <a:r>
              <a:rPr lang="nl-BE" dirty="0" err="1"/>
              <a:t>Runtime.PythonDLL</a:t>
            </a:r>
            <a:r>
              <a:rPr lang="nl-BE" dirty="0"/>
              <a:t> = "";</a:t>
            </a:r>
          </a:p>
          <a:p>
            <a:r>
              <a:rPr lang="nl-BE" dirty="0"/>
              <a:t>        </a:t>
            </a:r>
            <a:r>
              <a:rPr lang="nl-BE" dirty="0" err="1"/>
              <a:t>PythonEngine.Initialize</a:t>
            </a:r>
            <a:r>
              <a:rPr lang="nl-BE" dirty="0"/>
              <a:t>();</a:t>
            </a:r>
          </a:p>
          <a:p>
            <a:r>
              <a:rPr lang="nl-BE" dirty="0"/>
              <a:t> </a:t>
            </a:r>
          </a:p>
          <a:p>
            <a:r>
              <a:rPr lang="nl-BE" dirty="0"/>
              <a:t>        </a:t>
            </a:r>
            <a:r>
              <a:rPr lang="nl-BE" dirty="0">
                <a:solidFill>
                  <a:srgbClr val="0070C0"/>
                </a:solidFill>
              </a:rPr>
              <a:t>var</a:t>
            </a:r>
            <a:r>
              <a:rPr lang="nl-BE" dirty="0"/>
              <a:t> </a:t>
            </a:r>
            <a:r>
              <a:rPr lang="nl-BE" dirty="0" err="1"/>
              <a:t>result</a:t>
            </a:r>
            <a:r>
              <a:rPr lang="nl-BE" dirty="0"/>
              <a:t> = </a:t>
            </a:r>
            <a:r>
              <a:rPr lang="nl-BE" dirty="0">
                <a:solidFill>
                  <a:srgbClr val="0070C0"/>
                </a:solidFill>
              </a:rPr>
              <a:t>new</a:t>
            </a:r>
            <a:r>
              <a:rPr lang="nl-BE" dirty="0"/>
              <a:t> List&lt;</a:t>
            </a:r>
            <a:r>
              <a:rPr lang="nl-BE" dirty="0" err="1"/>
              <a:t>EmissieVoederTechnieken</a:t>
            </a:r>
            <a:r>
              <a:rPr lang="nl-BE" dirty="0"/>
              <a:t>&gt;();</a:t>
            </a:r>
          </a:p>
          <a:p>
            <a:r>
              <a:rPr lang="nl-BE" dirty="0"/>
              <a:t>        </a:t>
            </a:r>
            <a:r>
              <a:rPr lang="nl-BE" dirty="0" err="1">
                <a:solidFill>
                  <a:srgbClr val="0070C0"/>
                </a:solidFill>
              </a:rPr>
              <a:t>using</a:t>
            </a:r>
            <a:r>
              <a:rPr lang="nl-BE" dirty="0"/>
              <a:t> (</a:t>
            </a:r>
            <a:r>
              <a:rPr lang="nl-BE" dirty="0" err="1"/>
              <a:t>Py.GIL</a:t>
            </a:r>
            <a:r>
              <a:rPr lang="nl-BE" dirty="0"/>
              <a:t>())</a:t>
            </a:r>
          </a:p>
          <a:p>
            <a:r>
              <a:rPr lang="nl-BE" dirty="0"/>
              <a:t>        {</a:t>
            </a:r>
          </a:p>
          <a:p>
            <a:r>
              <a:rPr lang="nl-BE" dirty="0"/>
              <a:t>            </a:t>
            </a:r>
            <a:r>
              <a:rPr lang="nl-BE" dirty="0" err="1">
                <a:solidFill>
                  <a:srgbClr val="0070C0"/>
                </a:solidFill>
              </a:rPr>
              <a:t>dynamic</a:t>
            </a:r>
            <a:r>
              <a:rPr lang="nl-BE" dirty="0"/>
              <a:t> </a:t>
            </a:r>
            <a:r>
              <a:rPr lang="nl-BE" dirty="0" err="1"/>
              <a:t>sys</a:t>
            </a:r>
            <a:r>
              <a:rPr lang="nl-BE" dirty="0"/>
              <a:t> = </a:t>
            </a:r>
            <a:r>
              <a:rPr lang="nl-BE" dirty="0" err="1"/>
              <a:t>Py.Import</a:t>
            </a:r>
            <a:r>
              <a:rPr lang="nl-BE" dirty="0"/>
              <a:t>("</a:t>
            </a:r>
            <a:r>
              <a:rPr lang="nl-BE" dirty="0" err="1">
                <a:solidFill>
                  <a:schemeClr val="accent4">
                    <a:lumMod val="75000"/>
                  </a:schemeClr>
                </a:solidFill>
              </a:rPr>
              <a:t>sys</a:t>
            </a:r>
            <a:r>
              <a:rPr lang="nl-BE" dirty="0"/>
              <a:t>");</a:t>
            </a:r>
          </a:p>
          <a:p>
            <a:r>
              <a:rPr lang="nl-BE" dirty="0"/>
              <a:t>            </a:t>
            </a:r>
            <a:r>
              <a:rPr lang="nl-BE" dirty="0">
                <a:solidFill>
                  <a:srgbClr val="0070C0"/>
                </a:solidFill>
              </a:rPr>
              <a:t>string</a:t>
            </a:r>
            <a:r>
              <a:rPr lang="nl-BE" dirty="0"/>
              <a:t> </a:t>
            </a:r>
            <a:r>
              <a:rPr lang="nl-BE" dirty="0" err="1"/>
              <a:t>executorDirectory</a:t>
            </a:r>
            <a:r>
              <a:rPr lang="nl-BE" dirty="0"/>
              <a:t> = </a:t>
            </a:r>
            <a:r>
              <a:rPr lang="nl-BE" dirty="0" err="1"/>
              <a:t>Path.Combine</a:t>
            </a:r>
            <a:r>
              <a:rPr lang="nl-BE" dirty="0"/>
              <a:t>(</a:t>
            </a:r>
            <a:r>
              <a:rPr lang="nl-BE" dirty="0" err="1"/>
              <a:t>AppDomain.CurrentDomain.BaseDirectory</a:t>
            </a:r>
            <a:r>
              <a:rPr lang="nl-BE" dirty="0"/>
              <a:t>, </a:t>
            </a:r>
            <a:r>
              <a:rPr lang="nl-BE" dirty="0">
                <a:solidFill>
                  <a:schemeClr val="accent4">
                    <a:lumMod val="75000"/>
                  </a:schemeClr>
                </a:solidFill>
              </a:rPr>
              <a:t>@"..\..\..\..\..\ILVO.EMAV.Jupyter\berekeningen</a:t>
            </a:r>
            <a:r>
              <a:rPr lang="nl-BE" dirty="0"/>
              <a:t>\");</a:t>
            </a:r>
          </a:p>
          <a:p>
            <a:r>
              <a:rPr lang="nl-BE" dirty="0"/>
              <a:t>            </a:t>
            </a:r>
            <a:r>
              <a:rPr lang="nl-BE" dirty="0" err="1"/>
              <a:t>sys.path.append</a:t>
            </a:r>
            <a:r>
              <a:rPr lang="nl-BE" dirty="0"/>
              <a:t>(</a:t>
            </a:r>
            <a:r>
              <a:rPr lang="nl-BE" dirty="0" err="1"/>
              <a:t>executorDirectory</a:t>
            </a:r>
            <a:r>
              <a:rPr lang="nl-BE" dirty="0"/>
              <a:t>);</a:t>
            </a:r>
          </a:p>
          <a:p>
            <a:r>
              <a:rPr lang="nl-BE" dirty="0"/>
              <a:t>            </a:t>
            </a:r>
            <a:r>
              <a:rPr lang="nl-BE" dirty="0" err="1">
                <a:solidFill>
                  <a:srgbClr val="0070C0"/>
                </a:solidFill>
              </a:rPr>
              <a:t>dynamic</a:t>
            </a:r>
            <a:r>
              <a:rPr lang="nl-BE" dirty="0"/>
              <a:t> </a:t>
            </a:r>
            <a:r>
              <a:rPr lang="nl-BE" dirty="0" err="1"/>
              <a:t>emissieBerekening</a:t>
            </a:r>
            <a:r>
              <a:rPr lang="nl-BE" dirty="0"/>
              <a:t> = </a:t>
            </a:r>
            <a:r>
              <a:rPr lang="nl-BE" dirty="0" err="1"/>
              <a:t>Py.Import</a:t>
            </a:r>
            <a:r>
              <a:rPr lang="nl-BE" dirty="0"/>
              <a:t>("</a:t>
            </a:r>
            <a:r>
              <a:rPr lang="nl-BE" dirty="0" err="1">
                <a:solidFill>
                  <a:schemeClr val="accent4">
                    <a:lumMod val="75000"/>
                  </a:schemeClr>
                </a:solidFill>
              </a:rPr>
              <a:t>BerekenEmissieVoedertechnieken</a:t>
            </a:r>
            <a:r>
              <a:rPr lang="nl-BE" dirty="0"/>
              <a:t>");</a:t>
            </a:r>
          </a:p>
          <a:p>
            <a:r>
              <a:rPr lang="nl-BE" dirty="0"/>
              <a:t>            </a:t>
            </a:r>
            <a:r>
              <a:rPr lang="nl-BE" dirty="0" err="1">
                <a:solidFill>
                  <a:srgbClr val="0070C0"/>
                </a:solidFill>
              </a:rPr>
              <a:t>result</a:t>
            </a:r>
            <a:r>
              <a:rPr lang="nl-BE" dirty="0"/>
              <a:t> = </a:t>
            </a:r>
            <a:r>
              <a:rPr lang="nl-BE" dirty="0" err="1"/>
              <a:t>emissieBerekening.Bereken</a:t>
            </a:r>
            <a:r>
              <a:rPr lang="nl-BE" dirty="0"/>
              <a:t>(</a:t>
            </a:r>
            <a:r>
              <a:rPr lang="nl-BE" dirty="0" err="1"/>
              <a:t>input.EmissieStallen</a:t>
            </a:r>
            <a:r>
              <a:rPr lang="nl-BE" dirty="0"/>
              <a:t>);</a:t>
            </a:r>
          </a:p>
          <a:p>
            <a:r>
              <a:rPr lang="nl-BE" dirty="0"/>
              <a:t>        }</a:t>
            </a:r>
          </a:p>
          <a:p>
            <a:pPr marL="0" indent="0">
              <a:buNone/>
            </a:pP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132685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BE9126-4C4A-A45F-ACE9-6BD542E9B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US"/>
              <a:t>Conclusie</a:t>
            </a:r>
            <a:endParaRPr lang="nl-B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498C801-AFD7-873A-1AB5-23850455A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 code:</a:t>
            </a:r>
          </a:p>
          <a:p>
            <a:pPr lvl="1"/>
            <a:r>
              <a:rPr lang="en-US" dirty="0" err="1"/>
              <a:t>Toegepast</a:t>
            </a:r>
            <a:endParaRPr lang="en-US" dirty="0"/>
          </a:p>
          <a:p>
            <a:pPr lvl="1"/>
            <a:r>
              <a:rPr lang="en-US" dirty="0" err="1"/>
              <a:t>Duidelijke</a:t>
            </a:r>
            <a:r>
              <a:rPr lang="en-US" dirty="0"/>
              <a:t> code</a:t>
            </a:r>
          </a:p>
          <a:p>
            <a:r>
              <a:rPr lang="en-US" dirty="0" err="1"/>
              <a:t>Documentatie</a:t>
            </a:r>
            <a:r>
              <a:rPr lang="en-US" dirty="0"/>
              <a:t> drift:</a:t>
            </a:r>
          </a:p>
          <a:p>
            <a:pPr lvl="1"/>
            <a:r>
              <a:rPr lang="en-US" dirty="0" err="1"/>
              <a:t>It’ers</a:t>
            </a:r>
            <a:r>
              <a:rPr lang="en-US" dirty="0"/>
              <a:t> =&gt; hoe</a:t>
            </a:r>
          </a:p>
          <a:p>
            <a:pPr lvl="1"/>
            <a:r>
              <a:rPr lang="en-US" dirty="0" err="1"/>
              <a:t>Onderzoekers</a:t>
            </a:r>
            <a:r>
              <a:rPr lang="en-US" dirty="0"/>
              <a:t> =&gt; </a:t>
            </a:r>
            <a:r>
              <a:rPr lang="en-US" dirty="0" err="1"/>
              <a:t>waarom</a:t>
            </a:r>
            <a:endParaRPr lang="en-US" dirty="0"/>
          </a:p>
          <a:p>
            <a:r>
              <a:rPr lang="en-US" dirty="0"/>
              <a:t>Python </a:t>
            </a:r>
            <a:r>
              <a:rPr lang="en-US" dirty="0" err="1"/>
              <a:t>en</a:t>
            </a:r>
            <a:r>
              <a:rPr lang="en-US" dirty="0"/>
              <a:t> C#:</a:t>
            </a:r>
          </a:p>
          <a:p>
            <a:pPr lvl="1"/>
            <a:r>
              <a:rPr lang="en-US" dirty="0"/>
              <a:t>Kleine </a:t>
            </a:r>
            <a:r>
              <a:rPr lang="en-US" dirty="0" err="1"/>
              <a:t>ondelen</a:t>
            </a:r>
            <a:r>
              <a:rPr lang="en-US" dirty="0"/>
              <a:t> (</a:t>
            </a:r>
            <a:r>
              <a:rPr lang="en-US" dirty="0" err="1"/>
              <a:t>berekeningen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Integratie</a:t>
            </a:r>
            <a:r>
              <a:rPr lang="en-US" dirty="0"/>
              <a:t> </a:t>
            </a:r>
            <a:r>
              <a:rPr lang="en-US" dirty="0" err="1"/>
              <a:t>testen</a:t>
            </a:r>
            <a:r>
              <a:rPr lang="en-US" dirty="0"/>
              <a:t> &amp; </a:t>
            </a:r>
            <a:r>
              <a:rPr lang="en-US" dirty="0" err="1"/>
              <a:t>unittesten</a:t>
            </a:r>
            <a:endParaRPr lang="en-US" dirty="0"/>
          </a:p>
          <a:p>
            <a:pPr lvl="1"/>
            <a:r>
              <a:rPr lang="en-US" dirty="0" err="1"/>
              <a:t>Niet</a:t>
            </a:r>
            <a:r>
              <a:rPr lang="en-US" dirty="0"/>
              <a:t> perse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gemaakt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56478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C2802E-0100-9FA2-9B90-E0C46E7F7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nl-BE" dirty="0"/>
              <a:t>Kritische reflectie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8598CA4-E8F5-741D-6456-0AF246865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Voor </a:t>
            </a:r>
            <a:r>
              <a:rPr lang="en-US" dirty="0" err="1"/>
              <a:t>testen</a:t>
            </a:r>
            <a:r>
              <a:rPr lang="en-US" dirty="0"/>
              <a:t>: </a:t>
            </a:r>
            <a:r>
              <a:rPr lang="en-US" dirty="0" err="1"/>
              <a:t>niet</a:t>
            </a:r>
            <a:r>
              <a:rPr lang="en-US" dirty="0"/>
              <a:t> via web project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9858002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500</Words>
  <Application>Microsoft Office PowerPoint</Application>
  <PresentationFormat>Breedbeeld</PresentationFormat>
  <Paragraphs>99</Paragraphs>
  <Slides>13</Slides>
  <Notes>4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13</vt:i4>
      </vt:variant>
    </vt:vector>
  </HeadingPairs>
  <TitlesOfParts>
    <vt:vector size="18" baseType="lpstr">
      <vt:lpstr>Aptos</vt:lpstr>
      <vt:lpstr>Arial</vt:lpstr>
      <vt:lpstr>Trebuchet MS</vt:lpstr>
      <vt:lpstr>Wingdings 3</vt:lpstr>
      <vt:lpstr>Facet</vt:lpstr>
      <vt:lpstr>Bachelorproef verdediging</vt:lpstr>
      <vt:lpstr>Het probleem: The Black Box</vt:lpstr>
      <vt:lpstr>Aanpak onderzoek</vt:lpstr>
      <vt:lpstr>Gesprekken</vt:lpstr>
      <vt:lpstr>Alternative vormen documentatie</vt:lpstr>
      <vt:lpstr>Code als documentatie</vt:lpstr>
      <vt:lpstr>Code als documentatie</vt:lpstr>
      <vt:lpstr>Documentatie drift</vt:lpstr>
      <vt:lpstr>Documentatie drift</vt:lpstr>
      <vt:lpstr>Python &amp; C#</vt:lpstr>
      <vt:lpstr>Python &amp; C#</vt:lpstr>
      <vt:lpstr>Conclusie</vt:lpstr>
      <vt:lpstr>Kritische reflectie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Caradoc Roetynck</dc:creator>
  <cp:lastModifiedBy>Caradoc Roetynck</cp:lastModifiedBy>
  <cp:revision>12</cp:revision>
  <dcterms:created xsi:type="dcterms:W3CDTF">2026-06-10T17:41:05Z</dcterms:created>
  <dcterms:modified xsi:type="dcterms:W3CDTF">2026-09-02T17:58:15Z</dcterms:modified>
</cp:coreProperties>
</file>